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</p:embeddedFont>
    <p:embeddedFont>
      <p:font typeface="Roboto Medium" panose="02000000000000000000" pitchFamily="2" charset="0"/>
      <p:regular r:id="rId19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7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4818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12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3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11" Type="http://schemas.openxmlformats.org/officeDocument/2006/relationships/image" Target="../media/image8.jp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2.png"/><Relationship Id="rId11" Type="http://schemas.openxmlformats.org/officeDocument/2006/relationships/image" Target="../media/image1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2843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Accompagnement des Équipes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8615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Inspection Pédagogique Régionale EPS - Aix Marseille - Mai 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4095036"/>
            <a:ext cx="90417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ENJEU : Vers un seul outil applicatif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3991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5441633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5399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Centralisation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5889546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Regroupement des procédures dans une interface unique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53991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032" y="5441633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54078" y="5399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Ergonomie d'usage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954078" y="5889546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Navigation intuitive pour tous les utilisateurs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9640133" y="53991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5204" y="5441633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77249" y="5399127"/>
            <a:ext cx="345924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Simplification des procédures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377249" y="6243876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Réduction des étapes administratives pour les équipes</a:t>
            </a:r>
            <a:endParaRPr lang="en-US" sz="1750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9EAEA5EF-64FF-4999-9AEC-544D70C9AA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73" y="2261510"/>
            <a:ext cx="1411139" cy="133172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9C54E3EC-796E-4664-A893-F4ECCBDB07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419" y="2329211"/>
            <a:ext cx="2296938" cy="1196322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B676D53-4DBC-4B2E-8739-109656FBCD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90" y="1099925"/>
            <a:ext cx="1686507" cy="88677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23934E9A-C8BD-4BFA-A236-70C123D6CC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634" y="982166"/>
            <a:ext cx="1686508" cy="1122294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15D95B2F-00E0-4B5F-8F83-CB50AC3147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962" y="1447547"/>
            <a:ext cx="1699309" cy="1699309"/>
          </a:xfrm>
          <a:prstGeom prst="rect">
            <a:avLst/>
          </a:prstGeom>
        </p:spPr>
      </p:pic>
      <p:sp>
        <p:nvSpPr>
          <p:cNvPr id="21" name="Flèche : droite rayée 20">
            <a:extLst>
              <a:ext uri="{FF2B5EF4-FFF2-40B4-BE49-F238E27FC236}">
                <a16:creationId xmlns:a16="http://schemas.microsoft.com/office/drawing/2014/main" id="{F91FD36B-A538-42B0-B724-BD9B7802B264}"/>
              </a:ext>
            </a:extLst>
          </p:cNvPr>
          <p:cNvSpPr/>
          <p:nvPr/>
        </p:nvSpPr>
        <p:spPr>
          <a:xfrm>
            <a:off x="7510091" y="1980146"/>
            <a:ext cx="1578080" cy="784692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0A9215BC-C810-4810-B67F-9AD11904ECE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937" y="1218231"/>
            <a:ext cx="4147658" cy="222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8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0756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Les examens au CCF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833330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90373" y="2833330"/>
            <a:ext cx="37095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Déclarer les APSA certifiées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90373" y="3323749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Identification des activités évaluables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20351" y="3913465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0534" y="3913465"/>
            <a:ext cx="30066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Déposer les référentiels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0534" y="4403884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Stockage sur Tribu pour chaque APSA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960632" y="4993600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70815" y="4993600"/>
            <a:ext cx="32012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Configurer les protocoles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70815" y="5484019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Dates, co-évaluateurs, groupes d'élèves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300913" y="6073735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1095" y="6073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Gérer les inaptitudes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811095" y="6564154"/>
            <a:ext cx="6025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Justification des statuts à la CAHN</a:t>
            </a:r>
            <a:endParaRPr lang="en-US" sz="1750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4EB97D3-DC73-4BDE-A956-A7E965FE9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26" y="1492864"/>
            <a:ext cx="2013431" cy="105867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CF7CFA99-4741-4BB8-A79B-043B8321F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297" y="1354705"/>
            <a:ext cx="2006139" cy="1334994"/>
          </a:xfrm>
          <a:prstGeom prst="rect">
            <a:avLst/>
          </a:prstGeom>
        </p:spPr>
      </p:pic>
      <p:sp>
        <p:nvSpPr>
          <p:cNvPr id="18" name="Flèche : droite rayée 17">
            <a:extLst>
              <a:ext uri="{FF2B5EF4-FFF2-40B4-BE49-F238E27FC236}">
                <a16:creationId xmlns:a16="http://schemas.microsoft.com/office/drawing/2014/main" id="{6A9E03E7-5BE2-4114-B429-4239A58804F5}"/>
              </a:ext>
            </a:extLst>
          </p:cNvPr>
          <p:cNvSpPr/>
          <p:nvPr/>
        </p:nvSpPr>
        <p:spPr>
          <a:xfrm rot="5400000">
            <a:off x="1636821" y="3521119"/>
            <a:ext cx="1963271" cy="784692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5C7404EC-B14B-4F8B-BC96-D310169D5C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586" y="5055971"/>
            <a:ext cx="3253741" cy="17430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49003"/>
            <a:ext cx="71435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Validation des projets APPN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59794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82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Soumission du projet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315176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Préparation du dossier selon </a:t>
            </a:r>
            <a:r>
              <a:rPr lang="en-US" sz="1750" dirty="0" err="1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circulaire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2017- 04 -19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95882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Examen par l'IPR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467606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Analyse des mesures de sécurité proposées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319713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546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Validation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03694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Autorisation de mise en œuvre</a:t>
            </a:r>
            <a:endParaRPr lang="en-US" sz="175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DC84BFF-3F9B-4522-AAFC-5582F57937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3847" y="520796"/>
            <a:ext cx="3346706" cy="1743076"/>
          </a:xfrm>
          <a:prstGeom prst="rect">
            <a:avLst/>
          </a:prstGeom>
        </p:spPr>
      </p:pic>
      <p:sp>
        <p:nvSpPr>
          <p:cNvPr id="14" name="Flèche : droite rayée 13">
            <a:extLst>
              <a:ext uri="{FF2B5EF4-FFF2-40B4-BE49-F238E27FC236}">
                <a16:creationId xmlns:a16="http://schemas.microsoft.com/office/drawing/2014/main" id="{EB9EEE2B-DB99-4FFF-BD67-AE5021023DA9}"/>
              </a:ext>
            </a:extLst>
          </p:cNvPr>
          <p:cNvSpPr/>
          <p:nvPr/>
        </p:nvSpPr>
        <p:spPr>
          <a:xfrm rot="5400000">
            <a:off x="10905564" y="2547259"/>
            <a:ext cx="1963271" cy="784692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243771A-96A0-4359-A58C-DF2064592B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6457" y="6036945"/>
            <a:ext cx="3253741" cy="17430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783" y="618947"/>
            <a:ext cx="103868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Gestion des Sections Sportives Scolaires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5" y="23363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Ouverture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4575" y="2749121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Dépôt du dossier en ligne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2" y="1706820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730" y="2469892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89" y="23363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Bilan d'activités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89" y="2826722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Utilisation du cadre académique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2" y="1706820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603" y="2858392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89" y="47888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Renouvellement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89" y="5279290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Demande formalisée en ligne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2" y="1706820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102" y="5084266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5" y="47888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Fermeture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143202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Procédure dématérialisée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1" y="1706820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229" y="4695765"/>
            <a:ext cx="339328" cy="42422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63414947-D1FA-4647-9D57-EC0B4A6E82E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992" y="6369033"/>
            <a:ext cx="2835237" cy="1476686"/>
          </a:xfrm>
          <a:prstGeom prst="rect">
            <a:avLst/>
          </a:prstGeom>
        </p:spPr>
      </p:pic>
      <p:sp>
        <p:nvSpPr>
          <p:cNvPr id="20" name="Flèche : droite rayée 19">
            <a:extLst>
              <a:ext uri="{FF2B5EF4-FFF2-40B4-BE49-F238E27FC236}">
                <a16:creationId xmlns:a16="http://schemas.microsoft.com/office/drawing/2014/main" id="{0C2272B3-0721-428C-8E88-41E3954E14CC}"/>
              </a:ext>
            </a:extLst>
          </p:cNvPr>
          <p:cNvSpPr/>
          <p:nvPr/>
        </p:nvSpPr>
        <p:spPr>
          <a:xfrm>
            <a:off x="6489332" y="6825961"/>
            <a:ext cx="1963271" cy="784692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CD68F721-3312-4FE9-A904-2B2843BB3FA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443" y="6199881"/>
            <a:ext cx="3253741" cy="17430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634960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Gestion des Équipements de Protection Individuelle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80190" y="2216944"/>
            <a:ext cx="7556421" cy="1191339"/>
          </a:xfrm>
          <a:prstGeom prst="roundRect">
            <a:avLst>
              <a:gd name="adj" fmla="val 7197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91883" y="242863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Inventaire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91883" y="2869882"/>
            <a:ext cx="713303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Référencement de tous les EPI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80190" y="3612356"/>
            <a:ext cx="7556421" cy="1191339"/>
          </a:xfrm>
          <a:prstGeom prst="roundRect">
            <a:avLst>
              <a:gd name="adj" fmla="val 7197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1883" y="382404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Vérification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91883" y="4265295"/>
            <a:ext cx="713303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Contrôles périodiques obligatoires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80190" y="5007769"/>
            <a:ext cx="7556421" cy="1191339"/>
          </a:xfrm>
          <a:prstGeom prst="roundRect">
            <a:avLst>
              <a:gd name="adj" fmla="val 7197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1883" y="521946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Traçabilité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91883" y="5660708"/>
            <a:ext cx="713303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Suivi complet du cycle de vie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80190" y="6403181"/>
            <a:ext cx="7556421" cy="1191339"/>
          </a:xfrm>
          <a:prstGeom prst="roundRect">
            <a:avLst>
              <a:gd name="adj" fmla="val 7197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1883" y="661487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Conformité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91883" y="7056120"/>
            <a:ext cx="713303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Respect des normes de sécurité</a:t>
            </a:r>
            <a:endParaRPr lang="en-US" sz="1600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6183A13-115B-49AE-9257-FB59DDD3A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325" y="1120140"/>
            <a:ext cx="2200275" cy="2076450"/>
          </a:xfrm>
          <a:prstGeom prst="rect">
            <a:avLst/>
          </a:prstGeom>
        </p:spPr>
      </p:pic>
      <p:sp>
        <p:nvSpPr>
          <p:cNvPr id="17" name="Flèche : droite rayée 16">
            <a:extLst>
              <a:ext uri="{FF2B5EF4-FFF2-40B4-BE49-F238E27FC236}">
                <a16:creationId xmlns:a16="http://schemas.microsoft.com/office/drawing/2014/main" id="{2DFE25B2-FAD6-4548-A200-DB00D0216AB1}"/>
              </a:ext>
            </a:extLst>
          </p:cNvPr>
          <p:cNvSpPr/>
          <p:nvPr/>
        </p:nvSpPr>
        <p:spPr>
          <a:xfrm rot="5400000">
            <a:off x="2338828" y="4237381"/>
            <a:ext cx="1963271" cy="784692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95AF0C84-D8D2-414C-939F-0C4F78672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425" y="5824062"/>
            <a:ext cx="3253741" cy="17430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874871"/>
            <a:ext cx="7453670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Accompagnement des équipes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1871424"/>
            <a:ext cx="538639" cy="53863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2625447"/>
            <a:ext cx="2303383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Visioconférences de rentrée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6280190" y="3427809"/>
            <a:ext cx="2303383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Pour tous les coordonnateurs disciplinaires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708" y="1871424"/>
            <a:ext cx="538639" cy="5386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06708" y="2625447"/>
            <a:ext cx="2303383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Recensement académique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8906708" y="3427809"/>
            <a:ext cx="230338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Via questionnaire en ligne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3227" y="1871424"/>
            <a:ext cx="538639" cy="53863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33227" y="2625447"/>
            <a:ext cx="2303383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Assistance personnalisée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11533227" y="3427809"/>
            <a:ext cx="2303383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Réponses aux problématiques spécifiques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108615"/>
            <a:ext cx="538639" cy="53863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80190" y="5862637"/>
            <a:ext cx="2303383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Mutualisation des pratiques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6280190" y="6665000"/>
            <a:ext cx="230338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Partage d'expériences entre établissements</a:t>
            </a:r>
            <a:endParaRPr lang="en-US" sz="1650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C3A2320C-8C46-42A9-9EEE-5E86CFC6ED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059" y="704219"/>
            <a:ext cx="2873047" cy="2873047"/>
          </a:xfrm>
          <a:prstGeom prst="rect">
            <a:avLst/>
          </a:prstGeom>
        </p:spPr>
      </p:pic>
      <p:sp>
        <p:nvSpPr>
          <p:cNvPr id="17" name="Flèche : droite rayée 16">
            <a:extLst>
              <a:ext uri="{FF2B5EF4-FFF2-40B4-BE49-F238E27FC236}">
                <a16:creationId xmlns:a16="http://schemas.microsoft.com/office/drawing/2014/main" id="{6D6AC386-B9AC-4CBF-A77C-33DE7B4AF86B}"/>
              </a:ext>
            </a:extLst>
          </p:cNvPr>
          <p:cNvSpPr/>
          <p:nvPr/>
        </p:nvSpPr>
        <p:spPr>
          <a:xfrm rot="5400000">
            <a:off x="1893946" y="4425910"/>
            <a:ext cx="1963271" cy="784692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B603E49A-ED9D-4D33-A0DC-3E0E36733F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710" y="5862637"/>
            <a:ext cx="3253741" cy="17430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4628"/>
            <a:ext cx="84670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Fonctionnalités complémentaires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30" y="1997035"/>
            <a:ext cx="1614011" cy="13069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2613065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88255" y="2223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Gestion pédagogique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088255" y="2714268"/>
            <a:ext cx="32406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Classes, notes, programmations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4918115" y="3317081"/>
            <a:ext cx="8861822" cy="15240"/>
          </a:xfrm>
          <a:prstGeom prst="roundRect">
            <a:avLst>
              <a:gd name="adj" fmla="val 625116"/>
            </a:avLst>
          </a:prstGeom>
          <a:solidFill>
            <a:srgbClr val="313E80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0424" y="3360658"/>
            <a:ext cx="3228022" cy="130694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3814762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95261" y="35874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Cartographie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5895261" y="4077891"/>
            <a:ext cx="357056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Équipements sportifs et formations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5725120" y="4680704"/>
            <a:ext cx="8054816" cy="15240"/>
          </a:xfrm>
          <a:prstGeom prst="roundRect">
            <a:avLst>
              <a:gd name="adj" fmla="val 625116"/>
            </a:avLst>
          </a:prstGeom>
          <a:solidFill>
            <a:srgbClr val="313E80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3418" y="4724281"/>
            <a:ext cx="4842034" cy="130694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892" y="5178385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702266" y="49510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Projets et attestations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6702266" y="5441513"/>
            <a:ext cx="35236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Savoir nager, projets pédagogiques</a:t>
            </a:r>
            <a:endParaRPr lang="en-US" sz="1750" dirty="0"/>
          </a:p>
        </p:txBody>
      </p:sp>
      <p:sp>
        <p:nvSpPr>
          <p:cNvPr id="17" name="Shape 9"/>
          <p:cNvSpPr/>
          <p:nvPr/>
        </p:nvSpPr>
        <p:spPr>
          <a:xfrm>
            <a:off x="6532126" y="6044327"/>
            <a:ext cx="7247811" cy="15240"/>
          </a:xfrm>
          <a:prstGeom prst="roundRect">
            <a:avLst>
              <a:gd name="adj" fmla="val 625116"/>
            </a:avLst>
          </a:prstGeom>
          <a:solidFill>
            <a:srgbClr val="313E80"/>
          </a:solidFill>
          <a:ln/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294" y="6087904"/>
            <a:ext cx="6456164" cy="1306949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4773" y="6542008"/>
            <a:ext cx="318968" cy="39862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509272" y="6314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Ressources humaines</a:t>
            </a:r>
            <a:endParaRPr lang="en-US" sz="2200" dirty="0"/>
          </a:p>
        </p:txBody>
      </p:sp>
      <p:sp>
        <p:nvSpPr>
          <p:cNvPr id="21" name="Text 11"/>
          <p:cNvSpPr/>
          <p:nvPr/>
        </p:nvSpPr>
        <p:spPr>
          <a:xfrm>
            <a:off x="7509272" y="6805136"/>
            <a:ext cx="36418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Compétences, besoins de formation</a:t>
            </a:r>
            <a:endParaRPr lang="en-US" sz="1750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B956CDFF-18E4-4F74-ADF2-52D493C20BE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921" y="634423"/>
            <a:ext cx="3253741" cy="17430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65440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Plan de formation et d'accompagnement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509742" y="2247424"/>
            <a:ext cx="22860" cy="5316617"/>
          </a:xfrm>
          <a:prstGeom prst="roundRect">
            <a:avLst>
              <a:gd name="adj" fmla="val 375070"/>
            </a:avLst>
          </a:prstGeom>
          <a:solidFill>
            <a:srgbClr val="313E80"/>
          </a:solidFill>
          <a:ln/>
        </p:spPr>
      </p:sp>
      <p:sp>
        <p:nvSpPr>
          <p:cNvPr id="5" name="Shape 2"/>
          <p:cNvSpPr/>
          <p:nvPr/>
        </p:nvSpPr>
        <p:spPr>
          <a:xfrm>
            <a:off x="6716494" y="2695099"/>
            <a:ext cx="612338" cy="22860"/>
          </a:xfrm>
          <a:prstGeom prst="roundRect">
            <a:avLst>
              <a:gd name="adj" fmla="val 375070"/>
            </a:avLst>
          </a:prstGeom>
          <a:solidFill>
            <a:srgbClr val="313E80"/>
          </a:solidFill>
          <a:ln/>
        </p:spPr>
      </p:sp>
      <p:sp>
        <p:nvSpPr>
          <p:cNvPr id="6" name="Shape 3"/>
          <p:cNvSpPr/>
          <p:nvPr/>
        </p:nvSpPr>
        <p:spPr>
          <a:xfrm>
            <a:off x="6280130" y="2476976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628" y="2515195"/>
            <a:ext cx="306110" cy="3826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30465" y="2451497"/>
            <a:ext cx="293822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Visioconférences dédiées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530465" y="2892743"/>
            <a:ext cx="630614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Calendrier en cours d'élaboration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716494" y="4075271"/>
            <a:ext cx="612338" cy="22860"/>
          </a:xfrm>
          <a:prstGeom prst="roundRect">
            <a:avLst>
              <a:gd name="adj" fmla="val 375070"/>
            </a:avLst>
          </a:prstGeom>
          <a:solidFill>
            <a:srgbClr val="313E80"/>
          </a:solidFill>
          <a:ln/>
        </p:spPr>
      </p:sp>
      <p:sp>
        <p:nvSpPr>
          <p:cNvPr id="11" name="Shape 7"/>
          <p:cNvSpPr/>
          <p:nvPr/>
        </p:nvSpPr>
        <p:spPr>
          <a:xfrm>
            <a:off x="6280130" y="3857149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628" y="3895368"/>
            <a:ext cx="306110" cy="38266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30465" y="3831669"/>
            <a:ext cx="276558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CMI d'accompagnement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7530465" y="4272915"/>
            <a:ext cx="630614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Spécialistes examens et autres procédures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716494" y="5455444"/>
            <a:ext cx="612338" cy="22860"/>
          </a:xfrm>
          <a:prstGeom prst="roundRect">
            <a:avLst>
              <a:gd name="adj" fmla="val 375070"/>
            </a:avLst>
          </a:prstGeom>
          <a:solidFill>
            <a:srgbClr val="313E80"/>
          </a:solidFill>
          <a:ln/>
        </p:spPr>
      </p:sp>
      <p:sp>
        <p:nvSpPr>
          <p:cNvPr id="16" name="Shape 11"/>
          <p:cNvSpPr/>
          <p:nvPr/>
        </p:nvSpPr>
        <p:spPr>
          <a:xfrm>
            <a:off x="6280130" y="5237321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6628" y="5275540"/>
            <a:ext cx="306110" cy="38266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30465" y="521184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Ressources en ligne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7530465" y="5653088"/>
            <a:ext cx="630614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Tutoriels vidéo et guides pratiques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716494" y="6835616"/>
            <a:ext cx="612338" cy="22860"/>
          </a:xfrm>
          <a:prstGeom prst="roundRect">
            <a:avLst>
              <a:gd name="adj" fmla="val 375070"/>
            </a:avLst>
          </a:prstGeom>
          <a:solidFill>
            <a:srgbClr val="313E80"/>
          </a:solidFill>
          <a:ln/>
        </p:spPr>
      </p:sp>
      <p:sp>
        <p:nvSpPr>
          <p:cNvPr id="21" name="Shape 15"/>
          <p:cNvSpPr/>
          <p:nvPr/>
        </p:nvSpPr>
        <p:spPr>
          <a:xfrm>
            <a:off x="6280130" y="6617494"/>
            <a:ext cx="459224" cy="459224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6628" y="6655713"/>
            <a:ext cx="306110" cy="38266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30465" y="659201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Suivi personnalisé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7530465" y="7033260"/>
            <a:ext cx="630614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Déploiement progressif et adapté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76573" y="1251585"/>
            <a:ext cx="63635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Interface Professeur EPS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413873"/>
            <a:ext cx="360807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666548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Portail unique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3936087"/>
            <a:ext cx="36080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Accès via ESTEREL académique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28421" y="2413873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24/7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0614898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Disponibilité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28421" y="3936087"/>
            <a:ext cx="3608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Connexion permanente au service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254246" y="5092779"/>
            <a:ext cx="360818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100%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8640723" y="61245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Intégration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54246" y="6614993"/>
            <a:ext cx="3608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Toutes procédures dans iPackEPS</a:t>
            </a:r>
            <a:endParaRPr lang="en-US" sz="175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1F25C9C5-B764-482A-8610-073D51FE5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62" y="397396"/>
            <a:ext cx="5964560" cy="7434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294</Words>
  <Application>Microsoft Office PowerPoint</Application>
  <PresentationFormat>Personnalisé</PresentationFormat>
  <Paragraphs>90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Roboto Medium</vt:lpstr>
      <vt:lpstr>Calibri</vt:lpstr>
      <vt:lpstr>Roboto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Amatte Lionel</cp:lastModifiedBy>
  <cp:revision>6</cp:revision>
  <dcterms:created xsi:type="dcterms:W3CDTF">2025-04-16T10:13:12Z</dcterms:created>
  <dcterms:modified xsi:type="dcterms:W3CDTF">2025-04-16T15:47:16Z</dcterms:modified>
</cp:coreProperties>
</file>